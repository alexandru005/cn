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3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29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Arithmetic Logic Unit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— </a:t>
            </a:r>
            <a:r>
              <a:rPr lang="ro-RO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Calculatoare Numerice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Ștefănescu Alexandru Ștefan  |  Varga Andreea Florina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Trifuț Alexandra Rebecca  |  Șulan Stanko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Overview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Proiectarea si implementarea unui ALU pe 8 biti capabil sa execute adunare, scadere, inmultire (Booth Radix-2) si impartire (Restoring Division), coordonat de o unitate de control FSM implementata structural in Verilog.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201168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Implementarea corecta a operatiilor aritmetice cu circuite logice eficiente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2057400"/>
            <a:ext cx="201168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2148840"/>
            <a:ext cx="640080" cy="640080"/>
          </a:xfrm>
          <a:prstGeom prst="ellipse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0592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Ierarhie clara — module separate pentru fiecare operatie si modul de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057400"/>
            <a:ext cx="201168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12664" y="2148840"/>
            <a:ext cx="640080" cy="640080"/>
          </a:xfrm>
          <a:prstGeom prst="ellipse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26864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complet pentru verificarea rezultatelor si generare waveforms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2057400"/>
            <a:ext cx="201168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2148840"/>
            <a:ext cx="640080" cy="640080"/>
          </a:xfrm>
          <a:prstGeom prst="ellipse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03136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33832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 de propagare minim si utilizare eficienta a resurselor hardware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 — Module Principale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— Stocare si Deplasare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258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A — Accumulator 8-bit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880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288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B — Operand B 8-bit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3172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31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M — Multiplicand/Divisor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464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346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Q — Multiplier/Dividend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3756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375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Q-1 FF — 1-bit flip-flop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4048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8404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Shift Logic — Arith. Shift Right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343400"/>
            <a:ext cx="54864" cy="43891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343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3-bit — 8 iteratii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822960"/>
            <a:ext cx="420624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22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Blocuri Aritmetice si Control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32588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32588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3258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1-bit (structural)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182880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82880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8288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Adder/Subtractor 8b — 8x FA + XOR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233172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33172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331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2:1 x 8bit — ASU.A si Mux B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283464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83464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8346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 Mux — selectie ADD/SUB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33756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33756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3375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Mult — Booth Radix-2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384048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84048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8404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Div — Restoring Division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4343400"/>
            <a:ext cx="420624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4343400"/>
            <a:ext cx="54864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343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— FSM 6 stari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FSM — Control Unit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EA90F6B-EA7B-4517-8BC8-FAFD828C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2" y="1152516"/>
            <a:ext cx="7060417" cy="3377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ro-RO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Hardware</a:t>
            </a:r>
          </a:p>
        </p:txBody>
      </p:sp>
      <p:sp>
        <p:nvSpPr>
          <p:cNvPr id="29" name="Text 27"/>
          <p:cNvSpPr/>
          <p:nvPr/>
        </p:nvSpPr>
        <p:spPr>
          <a:xfrm>
            <a:off x="9144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00426-DFC7-40A4-98BF-B8D81CDE7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501" y="1052974"/>
            <a:ext cx="5595978" cy="389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0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383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-16383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 Functionalities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Radix-2 — Inmultire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Initializare: A=0, M=multiplicand, Q=multiplier, Q[-1]=0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2821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282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Evalueaza {Q[0], Q[-1]}: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57984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579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01 → A = A + 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877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10 → A = A - 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00/11 → nicio operatie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4728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472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Arithmetic Shift Right {A, Q, Q[-1]}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77056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770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Repeta 8 iteratii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0682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3068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Rezultat 16-bit = {A[7:0], Q[7:0]}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Division — Impartire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2984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Initializare: A=0, Q=dividend, M=divisor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72821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282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Shift stanga {A, Q} cu 1 bit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157984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579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A_new = A - 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8775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5877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Daca A_new &gt;= 0: A=A_new, Q[0]=1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175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Daca A_new &lt; 0: restore A, Q[0]=0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4728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4472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Repeta 8 iteratii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877056"/>
            <a:ext cx="41148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770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 = Cat, A = Rest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30682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3068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div_by_zero daca M=0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HDL Implementation — Module Verilog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51960" y="777240"/>
            <a:ext cx="4617720" cy="347472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77724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39319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full_adder.v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170432"/>
            <a:ext cx="46177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1704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1-bit (XOR, AND, OR)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499616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996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adder_subtractor_8b.v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1499616"/>
            <a:ext cx="4617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49961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FA + XOR pentru SUB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28800"/>
            <a:ext cx="39319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mux_2to1_8b.v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828800"/>
            <a:ext cx="46177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8288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Multiplexor 2:1 pe 8 biti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157984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57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asu_mux.v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2157984"/>
            <a:ext cx="4617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1579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Selectie ADD/SUB (ASU Mux)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487168"/>
            <a:ext cx="39319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reg_8b.v / reg_1b.v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2487168"/>
            <a:ext cx="46177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4871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8-bit si 1-bit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816352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dsr_shift.v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2816352"/>
            <a:ext cx="4617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81635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Shift Right A:Q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145536"/>
            <a:ext cx="39319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455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counter_3b.v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51960" y="3145536"/>
            <a:ext cx="46177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14553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3-bit (8 iteratii)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4747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booth_mult.v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51960" y="3474720"/>
            <a:ext cx="4617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4747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Inmultire Booth Radix-2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803904"/>
            <a:ext cx="39319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restoring_div.v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3803904"/>
            <a:ext cx="46177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80390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Impartire Restoring Division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133088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133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control_unit.v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51960" y="4133088"/>
            <a:ext cx="4617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41330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Control Unit — 6 stari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4462272"/>
            <a:ext cx="39319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462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alu_8bit.v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51960" y="4462272"/>
            <a:ext cx="461772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446227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— integreaza totul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791456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791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tb_alu_8bit.v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51960" y="4791456"/>
            <a:ext cx="4617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0" y="479145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— 14 teste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OpCodes &amp; Ierarhia Modulelor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234440"/>
            <a:ext cx="297180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2344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Adunare (ADD)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1709928"/>
            <a:ext cx="2971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7099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Scadere (SUB)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8541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2185416"/>
            <a:ext cx="297180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18541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Inmultire — Booth Radix-2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6090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4440" y="2660904"/>
            <a:ext cx="2971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266090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Impartire — Restoring Division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Ierarhia Modulelor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261872"/>
            <a:ext cx="42976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26187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alu_8bit (Top-Level)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709928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847088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70992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 — FSM 6 stari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157984"/>
            <a:ext cx="42976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295144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5798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mux_2to1_8b (x2) — ASU.A Mux, Mux 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606040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743200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60604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asu_mux — selectie ADD/SUB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3054096"/>
            <a:ext cx="42976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191256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5409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adder_subtractor_8b — 8x full_adder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3502152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639312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50215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reg_8b (x2) — Reg A, Reg 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3950208"/>
            <a:ext cx="42976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4087368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95020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booth_mult — Booth Radix-2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4398264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4535424"/>
            <a:ext cx="73152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3982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restoring_div — Restoring Division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Testing and Simulation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777240"/>
            <a:ext cx="365760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777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PASS  /  0 FAIL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22960" cy="3200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371600"/>
            <a:ext cx="2011680" cy="3200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1645920" cy="3200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 (hex)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371600"/>
            <a:ext cx="777240" cy="3200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716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1737360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737360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737360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737360"/>
            <a:ext cx="822960" cy="219456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73736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1737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15+27=42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17373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737360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373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970532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1970532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1970532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970532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1970532"/>
            <a:ext cx="822960" cy="219456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9705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19705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0+0=0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19705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1970532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9705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203704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2203704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2203704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2203704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203704"/>
            <a:ext cx="822960" cy="219456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20370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88720" y="220370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100+55=155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22037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009B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2203704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20370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436876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243687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2436876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2436876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2436876"/>
            <a:ext cx="822960" cy="219456"/>
          </a:xfrm>
          <a:prstGeom prst="rect">
            <a:avLst/>
          </a:prstGeom>
          <a:solidFill>
            <a:srgbClr val="885599"/>
          </a:solidFill>
          <a:ln w="12700">
            <a:solidFill>
              <a:srgbClr val="8855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43687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88720" y="243687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50-20=30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46120" y="24368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92040" y="2436876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243687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2670048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3000" y="2670048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2670048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2670048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670048"/>
            <a:ext cx="822960" cy="219456"/>
          </a:xfrm>
          <a:prstGeom prst="rect">
            <a:avLst/>
          </a:prstGeom>
          <a:solidFill>
            <a:srgbClr val="885599"/>
          </a:solidFill>
          <a:ln w="12700">
            <a:solidFill>
              <a:srgbClr val="8855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26700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88720" y="26700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10-10=0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246120" y="26700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892040" y="2670048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267004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2903220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43000" y="2903220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0" y="2903220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92040" y="2903220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" y="2903220"/>
            <a:ext cx="822960" cy="219456"/>
          </a:xfrm>
          <a:prstGeom prst="rect">
            <a:avLst/>
          </a:prstGeom>
          <a:solidFill>
            <a:srgbClr val="885599"/>
          </a:solidFill>
          <a:ln w="12700">
            <a:solidFill>
              <a:srgbClr val="8855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29032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88720" y="29032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10-30=-20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46120" y="29032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FFE6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892040" y="2903220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29032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3136392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43000" y="3136392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00400" y="3136392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92040" y="3136392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4320" y="3136392"/>
            <a:ext cx="82296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31363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188720" y="31363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6x7=42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246120" y="31363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002A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892040" y="3136392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3136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74320" y="3369564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43000" y="336956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0" y="3369564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92040" y="3369564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4320" y="3369564"/>
            <a:ext cx="82296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336956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188720" y="33695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0x255=0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246120" y="33695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892040" y="3369564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92040" y="336956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74320" y="3602736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43000" y="3602736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00400" y="3602736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92040" y="3602736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4320" y="3602736"/>
            <a:ext cx="82296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3602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1188720" y="36027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-4x3=-12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3246120" y="36027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FFF4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892040" y="3602736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92040" y="360273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74320" y="3835908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" y="383590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200400" y="3835908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92040" y="3835908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74320" y="3835908"/>
            <a:ext cx="82296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383590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1188720" y="38359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15x15=225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3246120" y="38359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00E1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892040" y="3835908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892040" y="383590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274320" y="4069080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43000" y="4069080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200400" y="4069080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892040" y="4069080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74320" y="4069080"/>
            <a:ext cx="822960" cy="219456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74320" y="40690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1188720" y="40690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42/6=7 r0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3246120" y="40690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Q=07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892040" y="4069080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892040" y="40690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274320" y="4302252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43000" y="4302252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200400" y="4302252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92040" y="4302252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74320" y="4302252"/>
            <a:ext cx="822960" cy="219456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74320" y="43022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1188720" y="43022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17/5=3 r2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3246120" y="43022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Q=03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4892040" y="4302252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892040" y="430225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274320" y="4535424"/>
            <a:ext cx="82296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43000" y="4535424"/>
            <a:ext cx="201168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200400" y="4535424"/>
            <a:ext cx="1645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535424"/>
            <a:ext cx="77724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535424"/>
            <a:ext cx="822960" cy="219456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74320" y="453542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1188720" y="45354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100/10=10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3246120" y="45354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Q=0A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4892040" y="4535424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892040" y="453542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274320" y="4768596"/>
            <a:ext cx="8229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43000" y="476859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200400" y="4768596"/>
            <a:ext cx="1645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892040" y="4768596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4320" y="4768596"/>
            <a:ext cx="822960" cy="219456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74320" y="47685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1188720" y="47685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</a:t>
            </a:r>
            <a:endParaRPr lang="en-US" sz="1000" dirty="0"/>
          </a:p>
        </p:txBody>
      </p:sp>
      <p:sp>
        <p:nvSpPr>
          <p:cNvPr id="151" name="Text 149"/>
          <p:cNvSpPr/>
          <p:nvPr/>
        </p:nvSpPr>
        <p:spPr>
          <a:xfrm>
            <a:off x="3246120" y="47685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6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div_by_zero=1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4892040" y="4768596"/>
            <a:ext cx="77724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892040" y="476859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566928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Waveforms vizualizate in GTKWave — fisier tb_alu_8bit.vcd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Bibliografie si Tool-uri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840480" cy="548640"/>
          </a:xfrm>
          <a:prstGeom prst="rect">
            <a:avLst/>
          </a:prstGeom>
          <a:solidFill>
            <a:srgbClr val="253474"/>
          </a:solidFill>
          <a:ln w="12700">
            <a:solidFill>
              <a:srgbClr val="3355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54864" cy="54864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Oprițoiu Flavius (2026) — Arhitectura Calculatoarelor, Universitatea Politehnica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3840480" cy="548640"/>
          </a:xfrm>
          <a:prstGeom prst="rect">
            <a:avLst/>
          </a:prstGeom>
          <a:solidFill>
            <a:srgbClr val="253474"/>
          </a:solidFill>
          <a:ln w="12700">
            <a:solidFill>
              <a:srgbClr val="3355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21992"/>
            <a:ext cx="54864" cy="54864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Patterson, D., Hennessy, J. — Computer Organization and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3840480" cy="548640"/>
          </a:xfrm>
          <a:prstGeom prst="rect">
            <a:avLst/>
          </a:prstGeom>
          <a:solidFill>
            <a:srgbClr val="253474"/>
          </a:solidFill>
          <a:ln w="12700">
            <a:solidFill>
              <a:srgbClr val="3355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16352"/>
            <a:ext cx="54864" cy="54864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1635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Weste, N., Harris, D. — CMOS VLSI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Tool-uri folosite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627632"/>
            <a:ext cx="3840480" cy="548640"/>
          </a:xfrm>
          <a:prstGeom prst="rect">
            <a:avLst/>
          </a:prstGeom>
          <a:solidFill>
            <a:srgbClr val="1A3A2A"/>
          </a:solidFill>
          <a:ln w="12700">
            <a:solidFill>
              <a:srgbClr val="2A66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627632"/>
            <a:ext cx="54864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62763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(iverilog) — compilare si simulare cod Verilog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21992"/>
            <a:ext cx="3840480" cy="548640"/>
          </a:xfrm>
          <a:prstGeom prst="rect">
            <a:avLst/>
          </a:prstGeom>
          <a:solidFill>
            <a:srgbClr val="1A3A2A"/>
          </a:solidFill>
          <a:ln w="12700">
            <a:solidFill>
              <a:srgbClr val="2A66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21992"/>
            <a:ext cx="54864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2219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GTKWave — vizualizare waveforms (.vcd)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16352"/>
            <a:ext cx="3840480" cy="548640"/>
          </a:xfrm>
          <a:prstGeom prst="rect">
            <a:avLst/>
          </a:prstGeom>
          <a:solidFill>
            <a:srgbClr val="1A3A2A"/>
          </a:solidFill>
          <a:ln w="12700">
            <a:solidFill>
              <a:srgbClr val="2A66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816352"/>
            <a:ext cx="54864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1635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— editare cod HDL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8-bit  •  Arhitectura Calculatoarelor  • 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856</Words>
  <Application>Microsoft Office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8-bit</dc:title>
  <dc:subject>PptxGenJS Presentation</dc:subject>
  <dc:creator>PptxGenJS</dc:creator>
  <cp:lastModifiedBy>Stefanescu Alexandru</cp:lastModifiedBy>
  <cp:revision>2</cp:revision>
  <dcterms:created xsi:type="dcterms:W3CDTF">2026-04-24T12:37:41Z</dcterms:created>
  <dcterms:modified xsi:type="dcterms:W3CDTF">2026-04-24T12:44:54Z</dcterms:modified>
</cp:coreProperties>
</file>