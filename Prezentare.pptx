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5" r:id="rId6"/>
    <p:sldId id="260" r:id="rId7"/>
    <p:sldId id="261" r:id="rId8"/>
    <p:sldId id="262" r:id="rId9"/>
    <p:sldId id="263" r:id="rId10"/>
    <p:sldId id="266" r:id="rId11"/>
    <p:sldId id="267" r:id="rId12"/>
    <p:sldId id="268" r:id="rId13"/>
    <p:sldId id="269" r:id="rId14"/>
    <p:sldId id="264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69" y="1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935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529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844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766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0774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9839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8-bit Arithmetic Logic Unit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22860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 — </a:t>
            </a:r>
            <a:r>
              <a:rPr lang="ro-RO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Calculatoare Numerice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01752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Ștefănescu Alexandru Ștefan  |  Varga Andreea Florina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Trifuț Alexandra Rebecca  |  Șulan Stanko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Project Overview and Objectives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05840"/>
          </a:xfrm>
          <a:prstGeom prst="rect">
            <a:avLst/>
          </a:prstGeom>
          <a:solidFill>
            <a:srgbClr val="E8F0FB"/>
          </a:solidFill>
          <a:ln w="12700">
            <a:solidFill>
              <a:srgbClr val="E8F0F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868680"/>
            <a:ext cx="8321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Proiectarea si implementarea unui ALU pe 8 biti capabil sa execute adunare, scadere, inmultire (Booth Radix-2) si impartire (Restoring Division), coordonat de o unitate de control FSM implementata structural in Verilog.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2057400"/>
            <a:ext cx="2011680" cy="265176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148840"/>
            <a:ext cx="640080" cy="640080"/>
          </a:xfrm>
          <a:prstGeom prst="ellipse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4320" y="29260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38328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Implementarea corecta a operatiilor aritmetice cu circuite logice eficiente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50592" y="2057400"/>
            <a:ext cx="2011680" cy="265176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36392" y="2148840"/>
            <a:ext cx="640080" cy="640080"/>
          </a:xfrm>
          <a:prstGeom prst="ellipse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36392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450592" y="29260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42032" y="338328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Ierarhie clara — module separate pentru fiecare operatie si modul de control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26864" y="2057400"/>
            <a:ext cx="2011680" cy="265176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12664" y="2148840"/>
            <a:ext cx="640080" cy="640080"/>
          </a:xfrm>
          <a:prstGeom prst="ellipse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12664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26864" y="29260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18304" y="338328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Testbench complet pentru verificarea rezultatelor si generare waveforms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03136" y="2057400"/>
            <a:ext cx="2011680" cy="265176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2148840"/>
            <a:ext cx="640080" cy="640080"/>
          </a:xfrm>
          <a:prstGeom prst="ellipse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03136" y="29260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Performanta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94576" y="338328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Timp de propagare minim si utilizare eficienta a resurselor hardware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Architecture — Module Principale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411480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Datapath — Stocare si Deplasare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4206240" cy="438912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325880"/>
            <a:ext cx="54864" cy="438912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32588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 A — Accumulator 8-bit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828800"/>
            <a:ext cx="4206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1828800"/>
            <a:ext cx="54864" cy="438912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82880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 B — Operand B 8-bit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331720"/>
            <a:ext cx="4206240" cy="438912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331720"/>
            <a:ext cx="54864" cy="438912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33172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 M — Multiplicand/Divisor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834640"/>
            <a:ext cx="4206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834640"/>
            <a:ext cx="54864" cy="438912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283464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 Q — Multiplier/Dividend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337560"/>
            <a:ext cx="4206240" cy="438912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3337560"/>
            <a:ext cx="54864" cy="438912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333756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Q-1 FF — 1-bit flip-flop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3840480"/>
            <a:ext cx="4206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3840480"/>
            <a:ext cx="54864" cy="438912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384048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Shift Logic — Arith. Shift Right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4343400"/>
            <a:ext cx="4206240" cy="438912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" y="4343400"/>
            <a:ext cx="54864" cy="438912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34340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3-bit — 8 iteratii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54880" y="822960"/>
            <a:ext cx="4206240" cy="41148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8229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Blocuri Aritmetice si Control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1325880"/>
            <a:ext cx="4206240" cy="438912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1325880"/>
            <a:ext cx="54864" cy="43891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64608" y="132588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Adder 1-bit (structural)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54880" y="1828800"/>
            <a:ext cx="4206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1828800"/>
            <a:ext cx="54864" cy="43891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64608" y="182880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Adder/Subtractor 8b — 8x FA + XOR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54880" y="2331720"/>
            <a:ext cx="4206240" cy="438912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54880" y="2331720"/>
            <a:ext cx="54864" cy="43891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64608" y="233172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 2:1 x 8bit — ASU.A si Mux B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54880" y="2834640"/>
            <a:ext cx="4206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54880" y="2834640"/>
            <a:ext cx="54864" cy="43891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64608" y="283464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 Mux — selectie ADD/SUB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54880" y="3337560"/>
            <a:ext cx="4206240" cy="438912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54880" y="3337560"/>
            <a:ext cx="54864" cy="43891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64608" y="333756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Booth Mult — Booth Radix-2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54880" y="3840480"/>
            <a:ext cx="4206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54880" y="3840480"/>
            <a:ext cx="54864" cy="43891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64608" y="384048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Restoring Div — Restoring Division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54880" y="4343400"/>
            <a:ext cx="4206240" cy="438912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54880" y="4343400"/>
            <a:ext cx="54864" cy="43891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64608" y="434340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Unit — FSM 6 stari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FSM — Control Unit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1440" y="2331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EA90F6B-EA7B-4517-8BC8-FAFD828C7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" y="1152516"/>
            <a:ext cx="7060417" cy="33775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ro-RO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Hardware</a:t>
            </a:r>
          </a:p>
        </p:txBody>
      </p:sp>
      <p:sp>
        <p:nvSpPr>
          <p:cNvPr id="29" name="Text 27"/>
          <p:cNvSpPr/>
          <p:nvPr/>
        </p:nvSpPr>
        <p:spPr>
          <a:xfrm>
            <a:off x="91440" y="2331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600426-DFC7-40A4-98BF-B8D81CDE7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3501" y="1052974"/>
            <a:ext cx="5595978" cy="3890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302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6383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-16383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Algorithm Functionalities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411480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Booth Radix-2 — Inmultire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114800" cy="40233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298448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Initializare: A=0, M=multiplicand, Q=multiplier, Q[-1]=0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728216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728216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Evalueaza {Q[0], Q[-1]}: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157984"/>
            <a:ext cx="4114800" cy="40233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15798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01 → A = A + 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587752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587752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10 → A = A - 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017520"/>
            <a:ext cx="4114800" cy="40233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017520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00/11 → nicio operatie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447288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447288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Arithmetic Shift Right {A, Q, Q[-1]}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877056"/>
            <a:ext cx="4114800" cy="40233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877056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Repeta 8 iteratii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4306824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30682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Rezultat 16-bit = {A[7:0], Q[7:0]}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822960"/>
            <a:ext cx="4114800" cy="41148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8229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Restoring Division — Impartire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754880" y="1298448"/>
            <a:ext cx="4114800" cy="40233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298448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Initializare: A=0, Q=dividend, M=divisor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1728216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1728216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Shift stanga {A, Q} cu 1 bit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2157984"/>
            <a:ext cx="4114800" cy="40233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215798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A_new = A - M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2587752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587752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Daca A_new &gt;= 0: A=A_new, Q[0]=1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3017520"/>
            <a:ext cx="4114800" cy="40233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017520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Daca A_new &lt; 0: restore A, Q[0]=0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3447288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3447288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Repeta 8 iteratii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54880" y="3877056"/>
            <a:ext cx="4114800" cy="40233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3877056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Q = Cat, A = Rest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0" y="4306824"/>
            <a:ext cx="4114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0" y="4306824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div_by_zero daca M=0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HDL Implementation — Module Verilog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3931920" cy="347472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777240"/>
            <a:ext cx="4617720" cy="347472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51960" y="777240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Descriere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39319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17043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full_adder.v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51960" y="1170432"/>
            <a:ext cx="46177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0" y="117043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Adder 1-bit (XOR, AND, OR)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1499616"/>
            <a:ext cx="39319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49961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adder_subtractor_8b.v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51960" y="1499616"/>
            <a:ext cx="46177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1499616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8x FA + XOR pentru SUB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1828800"/>
            <a:ext cx="39319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8288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mux_2to1_8b.v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51960" y="1828800"/>
            <a:ext cx="46177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0" y="1828800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Multiplexor 2:1 pe 8 biti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157984"/>
            <a:ext cx="39319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15798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asu_mux.v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251960" y="2157984"/>
            <a:ext cx="46177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0" y="2157984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Selectie ADD/SUB (ASU Mux)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4320" y="2487168"/>
            <a:ext cx="39319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4871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reg_8b.v / reg_1b.v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251960" y="2487168"/>
            <a:ext cx="46177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487168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8-bit si 1-bit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2816352"/>
            <a:ext cx="39319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281635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dsr_shift.v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51960" y="2816352"/>
            <a:ext cx="46177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97680" y="281635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Shift Right A:Q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74320" y="3145536"/>
            <a:ext cx="39319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14553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counter_3b.v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251960" y="3145536"/>
            <a:ext cx="46177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0" y="3145536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3-bit (8 iteratii)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74320" y="3474720"/>
            <a:ext cx="39319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3474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booth_mult.v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251960" y="3474720"/>
            <a:ext cx="46177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97680" y="3474720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Inmultire Booth Radix-2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74320" y="3803904"/>
            <a:ext cx="39319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380390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restoring_div.v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251960" y="3803904"/>
            <a:ext cx="46177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97680" y="3803904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Impartire Restoring Division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74320" y="4133088"/>
            <a:ext cx="39319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040" y="41330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control_unit.v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51960" y="4133088"/>
            <a:ext cx="46177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97680" y="4133088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 Control Unit — 6 stari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74320" y="4462272"/>
            <a:ext cx="39319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446227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alu_8bit.v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251960" y="4462272"/>
            <a:ext cx="4617720" cy="320040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97680" y="4462272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— integreaza totul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274320" y="4791456"/>
            <a:ext cx="39319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0040" y="479145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tb_alu_8bit.v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251960" y="4791456"/>
            <a:ext cx="46177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297680" y="4791456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Testbench — 14 teste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OpCodes &amp; Ierarhia Modulelor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365760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9144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23444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34440" y="1234440"/>
            <a:ext cx="2971800" cy="438912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25880" y="123444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Adunare (ADD)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709928"/>
            <a:ext cx="9144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709928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34440" y="1709928"/>
            <a:ext cx="2971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25880" y="170992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Scadere (SUB)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185416"/>
            <a:ext cx="9144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185416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34440" y="2185416"/>
            <a:ext cx="2971800" cy="438912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25880" y="2185416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Inmultire — Booth Radix-2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660904"/>
            <a:ext cx="914400" cy="43891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660904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234440" y="2660904"/>
            <a:ext cx="2971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25880" y="266090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Impartire — Restoring Division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0" y="822960"/>
            <a:ext cx="4297680" cy="36576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82296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Ierarhia Modulelor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0" y="1261872"/>
            <a:ext cx="4297680" cy="420624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0" y="1261872"/>
            <a:ext cx="4206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alu_8bit (Top-Level)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1709928"/>
            <a:ext cx="4297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00600" y="1847088"/>
            <a:ext cx="73152" cy="14630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1709928"/>
            <a:ext cx="3886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control_unit — FSM 6 stari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2157984"/>
            <a:ext cx="4297680" cy="420624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2295144"/>
            <a:ext cx="73152" cy="14630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2157984"/>
            <a:ext cx="3886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mux_2to1_8b (x2) — ASU.A Mux, Mux B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2606040"/>
            <a:ext cx="4297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00600" y="2743200"/>
            <a:ext cx="73152" cy="14630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2606040"/>
            <a:ext cx="3886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asu_mux — selectie ADD/SUB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3054096"/>
            <a:ext cx="4297680" cy="420624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3191256"/>
            <a:ext cx="73152" cy="14630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92040" y="3054096"/>
            <a:ext cx="3886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adder_subtractor_8b — 8x full_adder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0" y="3502152"/>
            <a:ext cx="4297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00600" y="3639312"/>
            <a:ext cx="73152" cy="14630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92040" y="3502152"/>
            <a:ext cx="3886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reg_8b (x2) — Reg A, Reg B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0" y="3950208"/>
            <a:ext cx="4297680" cy="420624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00600" y="4087368"/>
            <a:ext cx="73152" cy="14630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3950208"/>
            <a:ext cx="3886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booth_mult — Booth Radix-2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0" y="4398264"/>
            <a:ext cx="4297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800600" y="4535424"/>
            <a:ext cx="73152" cy="14630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92040" y="4398264"/>
            <a:ext cx="3886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restoring_div — Restoring Division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Testing and Simulation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0" y="777240"/>
            <a:ext cx="3657600" cy="50292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0" y="7772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PASS  /  0 FAIL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822960" cy="320040"/>
          </a:xfrm>
          <a:prstGeom prst="rect">
            <a:avLst/>
          </a:prstGeom>
          <a:solidFill>
            <a:srgbClr val="2E4057"/>
          </a:solidFill>
          <a:ln w="12700">
            <a:solidFill>
              <a:srgbClr val="2E40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7160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143000" y="1371600"/>
            <a:ext cx="2011680" cy="320040"/>
          </a:xfrm>
          <a:prstGeom prst="rect">
            <a:avLst/>
          </a:prstGeom>
          <a:solidFill>
            <a:srgbClr val="2E4057"/>
          </a:solidFill>
          <a:ln w="12700">
            <a:solidFill>
              <a:srgbClr val="2E40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371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371600"/>
            <a:ext cx="1645920" cy="320040"/>
          </a:xfrm>
          <a:prstGeom prst="rect">
            <a:avLst/>
          </a:prstGeom>
          <a:solidFill>
            <a:srgbClr val="2E4057"/>
          </a:solidFill>
          <a:ln w="12700">
            <a:solidFill>
              <a:srgbClr val="2E40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371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 (hex)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92040" y="1371600"/>
            <a:ext cx="777240" cy="320040"/>
          </a:xfrm>
          <a:prstGeom prst="rect">
            <a:avLst/>
          </a:prstGeom>
          <a:solidFill>
            <a:srgbClr val="2E4057"/>
          </a:solidFill>
          <a:ln w="12700">
            <a:solidFill>
              <a:srgbClr val="2E40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371600"/>
            <a:ext cx="777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1737360"/>
            <a:ext cx="82296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3000" y="1737360"/>
            <a:ext cx="201168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737360"/>
            <a:ext cx="164592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92040" y="1737360"/>
            <a:ext cx="77724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1737360"/>
            <a:ext cx="822960" cy="219456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73736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88720" y="173736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15+27=42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46120" y="173736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002A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92040" y="1737360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1737360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1970532"/>
            <a:ext cx="8229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1970532"/>
            <a:ext cx="201168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1970532"/>
            <a:ext cx="1645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92040" y="1970532"/>
            <a:ext cx="7772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1970532"/>
            <a:ext cx="822960" cy="219456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97053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1970532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0+0=0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46120" y="197053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92040" y="1970532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1970532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2203704"/>
            <a:ext cx="82296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43000" y="2203704"/>
            <a:ext cx="201168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2203704"/>
            <a:ext cx="164592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92040" y="2203704"/>
            <a:ext cx="77724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74320" y="2203704"/>
            <a:ext cx="822960" cy="219456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2203704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88720" y="2203704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100+55=155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246120" y="220370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009B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892040" y="2203704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203704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2436876"/>
            <a:ext cx="8229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43000" y="2436876"/>
            <a:ext cx="201168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00400" y="2436876"/>
            <a:ext cx="1645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92040" y="2436876"/>
            <a:ext cx="7772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74320" y="2436876"/>
            <a:ext cx="822960" cy="219456"/>
          </a:xfrm>
          <a:prstGeom prst="rect">
            <a:avLst/>
          </a:prstGeom>
          <a:solidFill>
            <a:srgbClr val="885599"/>
          </a:solidFill>
          <a:ln w="12700">
            <a:solidFill>
              <a:srgbClr val="8855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243687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188720" y="2436876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50-20=30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246120" y="243687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892040" y="2436876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92040" y="243687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74320" y="2670048"/>
            <a:ext cx="82296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43000" y="2670048"/>
            <a:ext cx="201168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00400" y="2670048"/>
            <a:ext cx="164592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92040" y="2670048"/>
            <a:ext cx="77724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2670048"/>
            <a:ext cx="822960" cy="219456"/>
          </a:xfrm>
          <a:prstGeom prst="rect">
            <a:avLst/>
          </a:prstGeom>
          <a:solidFill>
            <a:srgbClr val="885599"/>
          </a:solidFill>
          <a:ln w="12700">
            <a:solidFill>
              <a:srgbClr val="88559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2670048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1188720" y="267004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10-10=0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246120" y="267004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4892040" y="2670048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92040" y="2670048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274320" y="2903220"/>
            <a:ext cx="8229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143000" y="2903220"/>
            <a:ext cx="201168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200400" y="2903220"/>
            <a:ext cx="1645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92040" y="2903220"/>
            <a:ext cx="7772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74320" y="2903220"/>
            <a:ext cx="822960" cy="219456"/>
          </a:xfrm>
          <a:prstGeom prst="rect">
            <a:avLst/>
          </a:prstGeom>
          <a:solidFill>
            <a:srgbClr val="885599"/>
          </a:solidFill>
          <a:ln w="12700">
            <a:solidFill>
              <a:srgbClr val="88559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74320" y="290322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1188720" y="290322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10-30=-20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246120" y="290322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FFE6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892040" y="2903220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92040" y="2903220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74320" y="3136392"/>
            <a:ext cx="82296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143000" y="3136392"/>
            <a:ext cx="201168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200400" y="3136392"/>
            <a:ext cx="164592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892040" y="3136392"/>
            <a:ext cx="77724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74320" y="3136392"/>
            <a:ext cx="82296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74320" y="313639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1188720" y="3136392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6x7=42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3246120" y="313639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002A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892040" y="3136392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892040" y="3136392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74320" y="3369564"/>
            <a:ext cx="8229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143000" y="3369564"/>
            <a:ext cx="201168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00400" y="3369564"/>
            <a:ext cx="1645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92040" y="3369564"/>
            <a:ext cx="7772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4320" y="3369564"/>
            <a:ext cx="82296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74320" y="3369564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1188720" y="3369564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0x255=0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3246120" y="336956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892040" y="3369564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92040" y="3369564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274320" y="3602736"/>
            <a:ext cx="82296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143000" y="3602736"/>
            <a:ext cx="201168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200400" y="3602736"/>
            <a:ext cx="164592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892040" y="3602736"/>
            <a:ext cx="77724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74320" y="3602736"/>
            <a:ext cx="82296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74320" y="360273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1188720" y="3602736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-4x3=-12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3246120" y="360273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FFF4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4892040" y="3602736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92040" y="360273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274320" y="3835908"/>
            <a:ext cx="8229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143000" y="3835908"/>
            <a:ext cx="201168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200400" y="3835908"/>
            <a:ext cx="1645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892040" y="3835908"/>
            <a:ext cx="7772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74320" y="3835908"/>
            <a:ext cx="82296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74320" y="3835908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1188720" y="383590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15x15=225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3246120" y="383590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00E1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892040" y="3835908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892040" y="3835908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274320" y="4069080"/>
            <a:ext cx="82296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43000" y="4069080"/>
            <a:ext cx="201168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200400" y="4069080"/>
            <a:ext cx="164592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892040" y="4069080"/>
            <a:ext cx="77724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74320" y="4069080"/>
            <a:ext cx="822960" cy="219456"/>
          </a:xfrm>
          <a:prstGeom prst="rect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74320" y="406908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1188720" y="406908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42/6=7 r0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3246120" y="406908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Q=07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4892040" y="4069080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892040" y="4069080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274320" y="4302252"/>
            <a:ext cx="8229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143000" y="4302252"/>
            <a:ext cx="201168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200400" y="4302252"/>
            <a:ext cx="1645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892040" y="4302252"/>
            <a:ext cx="7772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74320" y="4302252"/>
            <a:ext cx="822960" cy="219456"/>
          </a:xfrm>
          <a:prstGeom prst="rect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74320" y="430225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</a:t>
            </a:r>
            <a:endParaRPr lang="en-US" sz="1000" dirty="0"/>
          </a:p>
        </p:txBody>
      </p:sp>
      <p:sp>
        <p:nvSpPr>
          <p:cNvPr id="130" name="Text 128"/>
          <p:cNvSpPr/>
          <p:nvPr/>
        </p:nvSpPr>
        <p:spPr>
          <a:xfrm>
            <a:off x="1188720" y="4302252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17/5=3 r2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3246120" y="430225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Q=03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892040" y="4302252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892040" y="4302252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74320" y="4535424"/>
            <a:ext cx="82296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1143000" y="4535424"/>
            <a:ext cx="201168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3200400" y="4535424"/>
            <a:ext cx="164592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4892040" y="4535424"/>
            <a:ext cx="777240" cy="219456"/>
          </a:xfrm>
          <a:prstGeom prst="rect">
            <a:avLst/>
          </a:prstGeom>
          <a:solidFill>
            <a:srgbClr val="F4F6FA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320" y="4535424"/>
            <a:ext cx="822960" cy="219456"/>
          </a:xfrm>
          <a:prstGeom prst="rect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274320" y="4535424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</a:t>
            </a:r>
            <a:endParaRPr lang="en-US" sz="1000" dirty="0"/>
          </a:p>
        </p:txBody>
      </p:sp>
      <p:sp>
        <p:nvSpPr>
          <p:cNvPr id="140" name="Text 138"/>
          <p:cNvSpPr/>
          <p:nvPr/>
        </p:nvSpPr>
        <p:spPr>
          <a:xfrm>
            <a:off x="1188720" y="4535424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100/10=10</a:t>
            </a:r>
            <a:endParaRPr lang="en-US" sz="1000" dirty="0"/>
          </a:p>
        </p:txBody>
      </p:sp>
      <p:sp>
        <p:nvSpPr>
          <p:cNvPr id="141" name="Text 139"/>
          <p:cNvSpPr/>
          <p:nvPr/>
        </p:nvSpPr>
        <p:spPr>
          <a:xfrm>
            <a:off x="3246120" y="45354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Q=0A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4892040" y="4535424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892040" y="4535424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274320" y="4768596"/>
            <a:ext cx="82296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143000" y="4768596"/>
            <a:ext cx="201168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200400" y="4768596"/>
            <a:ext cx="164592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892040" y="4768596"/>
            <a:ext cx="777240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EE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74320" y="4768596"/>
            <a:ext cx="822960" cy="219456"/>
          </a:xfrm>
          <a:prstGeom prst="rect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274320" y="47685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1188720" y="4768596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10/0</a:t>
            </a:r>
            <a:endParaRPr lang="en-US" sz="1000" dirty="0"/>
          </a:p>
        </p:txBody>
      </p:sp>
      <p:sp>
        <p:nvSpPr>
          <p:cNvPr id="151" name="Text 149"/>
          <p:cNvSpPr/>
          <p:nvPr/>
        </p:nvSpPr>
        <p:spPr>
          <a:xfrm>
            <a:off x="3246120" y="476859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F6A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div_by_zero=1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4892040" y="4768596"/>
            <a:ext cx="777240" cy="21945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892040" y="476859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54" name="Text 152"/>
          <p:cNvSpPr/>
          <p:nvPr/>
        </p:nvSpPr>
        <p:spPr>
          <a:xfrm>
            <a:off x="5669280" y="13716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Waveforms vizualizate in GTKWave — fisier tb_alu_8bit.vcd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Testing and Simulation Results</a:t>
            </a:r>
            <a:endParaRPr lang="en-US" sz="2200" dirty="0"/>
          </a:p>
        </p:txBody>
      </p:sp>
      <p:sp>
        <p:nvSpPr>
          <p:cNvPr id="154" name="Text 152"/>
          <p:cNvSpPr/>
          <p:nvPr/>
        </p:nvSpPr>
        <p:spPr>
          <a:xfrm>
            <a:off x="5669280" y="13716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C4B3823-F6A6-4F65-8531-2446F76852A5}"/>
              </a:ext>
            </a:extLst>
          </p:cNvPr>
          <p:cNvSpPr txBox="1"/>
          <p:nvPr/>
        </p:nvSpPr>
        <p:spPr>
          <a:xfrm>
            <a:off x="274320" y="844034"/>
            <a:ext cx="2087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ADUNARE</a:t>
            </a:r>
          </a:p>
        </p:txBody>
      </p:sp>
      <p:pic>
        <p:nvPicPr>
          <p:cNvPr id="156" name="Picture 155">
            <a:extLst>
              <a:ext uri="{FF2B5EF4-FFF2-40B4-BE49-F238E27FC236}">
                <a16:creationId xmlns:a16="http://schemas.microsoft.com/office/drawing/2014/main" id="{72EC8017-7587-472C-B372-55E4D9BEFF05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420" y="1612266"/>
            <a:ext cx="4856480" cy="262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622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3429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9550" y="-6096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Testing and Simulation Results</a:t>
            </a:r>
            <a:endParaRPr lang="en-US" sz="2200" dirty="0"/>
          </a:p>
        </p:txBody>
      </p:sp>
      <p:sp>
        <p:nvSpPr>
          <p:cNvPr id="154" name="Text 152"/>
          <p:cNvSpPr/>
          <p:nvPr/>
        </p:nvSpPr>
        <p:spPr>
          <a:xfrm>
            <a:off x="5669280" y="13716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DB1C464-ADB0-4AFC-B1EE-024D8C36A903}"/>
              </a:ext>
            </a:extLst>
          </p:cNvPr>
          <p:cNvSpPr txBox="1"/>
          <p:nvPr/>
        </p:nvSpPr>
        <p:spPr>
          <a:xfrm>
            <a:off x="274320" y="933450"/>
            <a:ext cx="1158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SCADERE</a:t>
            </a:r>
          </a:p>
        </p:txBody>
      </p:sp>
      <p:pic>
        <p:nvPicPr>
          <p:cNvPr id="156" name="Picture 155">
            <a:extLst>
              <a:ext uri="{FF2B5EF4-FFF2-40B4-BE49-F238E27FC236}">
                <a16:creationId xmlns:a16="http://schemas.microsoft.com/office/drawing/2014/main" id="{11D36624-5ADF-41B5-B075-8F6041ED2ED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0630" y="1524000"/>
            <a:ext cx="6019800" cy="3159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7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3429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9550" y="-6096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Testing and Simulation Results</a:t>
            </a:r>
            <a:endParaRPr lang="en-US" sz="2200" dirty="0"/>
          </a:p>
        </p:txBody>
      </p:sp>
      <p:sp>
        <p:nvSpPr>
          <p:cNvPr id="154" name="Text 152"/>
          <p:cNvSpPr/>
          <p:nvPr/>
        </p:nvSpPr>
        <p:spPr>
          <a:xfrm>
            <a:off x="5669280" y="13716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DB1C464-ADB0-4AFC-B1EE-024D8C36A903}"/>
              </a:ext>
            </a:extLst>
          </p:cNvPr>
          <p:cNvSpPr txBox="1"/>
          <p:nvPr/>
        </p:nvSpPr>
        <p:spPr>
          <a:xfrm>
            <a:off x="274320" y="933450"/>
            <a:ext cx="1501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INMULTIRE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381B9C-4747-427E-BE4E-778686E0D63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386840" y="1618616"/>
            <a:ext cx="5943600" cy="247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3741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3429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9550" y="-6096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Testing and Simulation Results</a:t>
            </a:r>
            <a:endParaRPr lang="en-US" sz="2200" dirty="0"/>
          </a:p>
        </p:txBody>
      </p:sp>
      <p:sp>
        <p:nvSpPr>
          <p:cNvPr id="154" name="Text 152"/>
          <p:cNvSpPr/>
          <p:nvPr/>
        </p:nvSpPr>
        <p:spPr>
          <a:xfrm>
            <a:off x="5669280" y="13716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DB1C464-ADB0-4AFC-B1EE-024D8C36A903}"/>
              </a:ext>
            </a:extLst>
          </p:cNvPr>
          <p:cNvSpPr txBox="1"/>
          <p:nvPr/>
        </p:nvSpPr>
        <p:spPr>
          <a:xfrm>
            <a:off x="274320" y="933450"/>
            <a:ext cx="140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IMPARTIRE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E58CA-40A5-4732-8E07-1DA71BD8B27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325880" y="1518602"/>
            <a:ext cx="5943600" cy="302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131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Bibliografie si Tool-uri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Bibliografie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27632"/>
            <a:ext cx="3840480" cy="548640"/>
          </a:xfrm>
          <a:prstGeom prst="rect">
            <a:avLst/>
          </a:prstGeom>
          <a:solidFill>
            <a:srgbClr val="253474"/>
          </a:solidFill>
          <a:ln w="12700">
            <a:solidFill>
              <a:srgbClr val="3355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27632"/>
            <a:ext cx="54864" cy="548640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62763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Oprițoiu Flavius (2026) — Arhitectura Calculatoarelor, Universitatea Politehnica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21992"/>
            <a:ext cx="3840480" cy="548640"/>
          </a:xfrm>
          <a:prstGeom prst="rect">
            <a:avLst/>
          </a:prstGeom>
          <a:solidFill>
            <a:srgbClr val="253474"/>
          </a:solidFill>
          <a:ln w="12700">
            <a:solidFill>
              <a:srgbClr val="3355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221992"/>
            <a:ext cx="54864" cy="548640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22199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Patterson, D., Hennessy, J. — Computer Organization and Design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816352"/>
            <a:ext cx="3840480" cy="548640"/>
          </a:xfrm>
          <a:prstGeom prst="rect">
            <a:avLst/>
          </a:prstGeom>
          <a:solidFill>
            <a:srgbClr val="253474"/>
          </a:solidFill>
          <a:ln w="12700">
            <a:solidFill>
              <a:srgbClr val="3355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816352"/>
            <a:ext cx="54864" cy="548640"/>
          </a:xfrm>
          <a:prstGeom prst="rect">
            <a:avLst/>
          </a:prstGeom>
          <a:solidFill>
            <a:srgbClr val="1F6AA5"/>
          </a:solidFill>
          <a:ln w="12700">
            <a:solidFill>
              <a:srgbClr val="1F6A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1635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Weste, N., Harris, D. — CMOS VLSI Design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1188720"/>
            <a:ext cx="3840480" cy="36576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Tool-uri folosite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1627632"/>
            <a:ext cx="3840480" cy="548640"/>
          </a:xfrm>
          <a:prstGeom prst="rect">
            <a:avLst/>
          </a:prstGeom>
          <a:solidFill>
            <a:srgbClr val="1A3A2A"/>
          </a:solidFill>
          <a:ln w="12700">
            <a:solidFill>
              <a:srgbClr val="2A66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1627632"/>
            <a:ext cx="54864" cy="54864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162763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Icarus Verilog (iverilog) — compilare si simulare cod Verilog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2221992"/>
            <a:ext cx="3840480" cy="548640"/>
          </a:xfrm>
          <a:prstGeom prst="rect">
            <a:avLst/>
          </a:prstGeom>
          <a:solidFill>
            <a:srgbClr val="1A3A2A"/>
          </a:solidFill>
          <a:ln w="12700">
            <a:solidFill>
              <a:srgbClr val="2A66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221992"/>
            <a:ext cx="54864" cy="54864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222199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GTKWave — vizualizare waveforms (.vcd)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2816352"/>
            <a:ext cx="3840480" cy="548640"/>
          </a:xfrm>
          <a:prstGeom prst="rect">
            <a:avLst/>
          </a:prstGeom>
          <a:solidFill>
            <a:srgbClr val="1A3A2A"/>
          </a:solidFill>
          <a:ln w="12700">
            <a:solidFill>
              <a:srgbClr val="2A664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2816352"/>
            <a:ext cx="54864" cy="54864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2816352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Code — editare cod HDL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77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 8-bit  •  Arhitectura Calculatoarelor  •  2025-2026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888</Words>
  <Application>Microsoft Office PowerPoint</Application>
  <PresentationFormat>On-screen Show (16:9)</PresentationFormat>
  <Paragraphs>197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ALU 8-bit</dc:title>
  <dc:subject>PptxGenJS Presentation</dc:subject>
  <dc:creator>PptxGenJS</dc:creator>
  <cp:lastModifiedBy>Stefanescu Alexandru</cp:lastModifiedBy>
  <cp:revision>3</cp:revision>
  <dcterms:created xsi:type="dcterms:W3CDTF">2026-04-24T12:37:41Z</dcterms:created>
  <dcterms:modified xsi:type="dcterms:W3CDTF">2026-04-24T15:16:10Z</dcterms:modified>
</cp:coreProperties>
</file>